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048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5603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CAPSTONE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Bike-Share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annual members and casual riders use Cyclistic bikes differently?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822192"/>
            <a:ext cx="32004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0292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 Khurshid</a:t>
            </a:r>
            <a:r>
              <a:rPr lang="en-US" sz="1200" dirty="0">
                <a:solidFill>
                  <a:srgbClr val="A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April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9FB8"/>
                </a:solidFill>
              </a:rPr>
              <a:t>📊 Interactive Dashboard: public.tableau.com/app/profile/nick.khurshid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</a:rPr>
              <a:t>BUSINESS TASK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Solving?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annual members and casual riders use Cyclistic bikes differently?"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3886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886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behavioral differences between casual riders and annual members across time, location, and ride patterns.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2240280"/>
            <a:ext cx="3886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800600" y="2240280"/>
            <a:ext cx="3886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983480" y="2377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288036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data-driven insights to recommend marketing strategies that convert casual riders into annual members.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Data Source: Divvy Bikeshare 2023  |  Tool: Google BigQuery · R · Tableau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</a:rPr>
              <a:t>DATA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468880" cy="123444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FCC"/>
                </a:solidFill>
              </a:rPr>
              <a:t>Monthly CSV Files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468880" cy="123444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91840" y="12984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9184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FCC"/>
                </a:solidFill>
              </a:rPr>
              <a:t>Trip Records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2468880" cy="123444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126480" y="12984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2648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FCC"/>
                </a:solidFill>
              </a:rPr>
              <a:t>Data Fields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8"/>
                </a:solidFill>
              </a:rPr>
              <a:t>Key Variables Included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7315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58368" y="3127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ride_id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trip identifier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75888"/>
            <a:ext cx="7315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58368" y="35844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rideable_type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type (classic, electric, docked)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33088"/>
            <a:ext cx="7315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58368" y="40416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started_at / ended_at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trip timestamps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218688"/>
            <a:ext cx="7315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047488" y="3127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 station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names and coordinates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675888"/>
            <a:ext cx="7315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047488" y="35844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member_casual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type: annual member or casual rider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Data: Divvy Bikeshare 2023 · Processed via Google BigQuery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</a:rPr>
              <a:t>DATA CLEANING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58368" cy="146304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658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7008" y="149047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87452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zero duplicate ride_ids using BigQuery GROUP BY / HAVING.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800600" y="1325880"/>
            <a:ext cx="658368" cy="146304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800600" y="1325880"/>
            <a:ext cx="658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50408" y="149047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Ride Durations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50408" y="187452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trips under 1 minute and over 24 hours as operationally implausible.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658368" cy="146304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658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07008" y="318211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Station Names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356616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NULL station names with 'Unknown' to preserve record count.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658368" cy="146304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800600" y="3017520"/>
            <a:ext cx="658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50408" y="318211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Member Values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50408" y="356616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out entries with values other than 'member' or 'casual'.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New columns created:  </a:t>
            </a:r>
            <a:r>
              <a:rPr lang="en-US" sz="1100" dirty="0">
                <a:solidFill>
                  <a:srgbClr val="1E293B"/>
                </a:solidFill>
              </a:rPr>
              <a:t>ride_length  ·  day_of_week  ·  hour  ·  month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</a:rPr>
              <a:t>INSIGHT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BBBBB"/>
                </a:solidFill>
              </a:rPr>
              <a:t>RIDE DURATION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 People Ride?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54864" cy="12801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603504" y="1371600"/>
            <a:ext cx="14630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03504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Casual Riders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longer average ride duration – suggesting leisure and exploratory use.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24912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54864" cy="128016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03504" y="2834640"/>
            <a:ext cx="146304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03504" y="2834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Annual Members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8368" y="320040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Shorter, more consistent ride duration – suggesting purposeful, routine commuting.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70432"/>
            <a:ext cx="4114800" cy="3566160"/>
          </a:xfrm>
          <a:prstGeom prst="rect">
            <a:avLst/>
          </a:prstGeom>
          <a:solidFill>
            <a:srgbClr val="F0F4F8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645152" y="1243584"/>
            <a:ext cx="3968496" cy="3419856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0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0" y="1170432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VISUALIZATION ]
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Avg. ride duration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vs. Member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Data: Divvy Bikeshare 2023  |  Tableau: public.tableau.com/app/profile/nick.khurshid</a:t>
            </a:r>
            <a:endParaRPr lang="en-US" sz="800" dirty="0"/>
          </a:p>
        </p:txBody>
      </p:sp>
      <p:pic>
        <p:nvPicPr>
          <p:cNvPr id="20" name="slide2" descr="avg_ride_length_min">
            <a:extLst>
              <a:ext uri="{FF2B5EF4-FFF2-40B4-BE49-F238E27FC236}">
                <a16:creationId xmlns:a16="http://schemas.microsoft.com/office/drawing/2014/main" id="{9BD274A6-129D-4755-BCC6-F05B9FFD27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70432"/>
            <a:ext cx="411479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</a:rPr>
              <a:t>INSIGHT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BBBBB"/>
                </a:solidFill>
              </a:rPr>
              <a:t>WEEKDAY USAGE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During the Week?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54864" cy="12801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603504" y="1371600"/>
            <a:ext cx="14630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03504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Casual Riders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usage on weekends (Sat &amp; Sun) – consistent with recreational patterns.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24912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54864" cy="128016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03504" y="2834640"/>
            <a:ext cx="146304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03504" y="2834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Annual Members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8368" y="320040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usage on weekdays (Mon–Fri) – aligned with daily commute behavior.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70432"/>
            <a:ext cx="4114800" cy="3566160"/>
          </a:xfrm>
          <a:prstGeom prst="rect">
            <a:avLst/>
          </a:prstGeom>
          <a:solidFill>
            <a:srgbClr val="F0F4F8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645152" y="1243584"/>
            <a:ext cx="3968496" cy="3419856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0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0" y="1170432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VISUALIZATION ]
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Rides by day of week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vs. Member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Data: Divvy Bikeshare 2023  |  Tableau: public.tableau.com/app/profile/nick.khurshid</a:t>
            </a:r>
            <a:endParaRPr lang="en-US" sz="800" dirty="0"/>
          </a:p>
        </p:txBody>
      </p:sp>
      <p:pic>
        <p:nvPicPr>
          <p:cNvPr id="20" name="slide3" descr="weekday_usage">
            <a:extLst>
              <a:ext uri="{FF2B5EF4-FFF2-40B4-BE49-F238E27FC236}">
                <a16:creationId xmlns:a16="http://schemas.microsoft.com/office/drawing/2014/main" id="{37448A8B-0868-427C-A7E6-B1F3F6497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1" y="1170432"/>
            <a:ext cx="41148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</a:rPr>
              <a:t>INSIGHT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BBBBB"/>
                </a:solidFill>
              </a:rPr>
              <a:t>TIME OF DAY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Do They Ride?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54864" cy="12801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603504" y="1371600"/>
            <a:ext cx="14630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03504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Casual Riders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usage in the afternoon – typically for leisure trips and tourism.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24912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54864" cy="128016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03504" y="2834640"/>
            <a:ext cx="146304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03504" y="2834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Annual Members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8368" y="320040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peaks at 08:00 AM &amp; 05:00 PM – classic morning and evening commute.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70432"/>
            <a:ext cx="4114800" cy="3566160"/>
          </a:xfrm>
          <a:prstGeom prst="rect">
            <a:avLst/>
          </a:prstGeom>
          <a:solidFill>
            <a:srgbClr val="F0F4F8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645152" y="1243584"/>
            <a:ext cx="3968496" cy="3419856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0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0" y="1170432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VISUALIZATION ]
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Rides by hour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vs. Member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Data: Divvy Bikeshare 2023  |  Tableau: public.tableau.com/app/profile/nick.khurshid</a:t>
            </a:r>
            <a:endParaRPr lang="en-US" sz="800" dirty="0"/>
          </a:p>
        </p:txBody>
      </p:sp>
      <p:pic>
        <p:nvPicPr>
          <p:cNvPr id="21" name="slide2" descr="hourly_usage">
            <a:extLst>
              <a:ext uri="{FF2B5EF4-FFF2-40B4-BE49-F238E27FC236}">
                <a16:creationId xmlns:a16="http://schemas.microsoft.com/office/drawing/2014/main" id="{70079313-83E4-4851-9882-66D6CF84A1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423" y="838200"/>
            <a:ext cx="4114801" cy="38983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</a:rPr>
              <a:t>INSIGHT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BBBBB"/>
                </a:solidFill>
              </a:rPr>
              <a:t>MONTHLY USAGE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Season Affect Rides?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54864" cy="12801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603504" y="1371600"/>
            <a:ext cx="14630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03504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Casual Riders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drops sharply in winter months – highly sensitive to weather conditions.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24912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54864" cy="128016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03504" y="2834640"/>
            <a:ext cx="146304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03504" y="2834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Annual Members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8368" y="320040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 usage year-round – less affected by seasonal or weather changes.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70432"/>
            <a:ext cx="4114800" cy="3566160"/>
          </a:xfrm>
          <a:prstGeom prst="rect">
            <a:avLst/>
          </a:prstGeom>
          <a:solidFill>
            <a:srgbClr val="F0F4F8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645152" y="1243584"/>
            <a:ext cx="3968496" cy="3419856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0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0" y="1170432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VISUALIZATION ]
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Monthly ride volume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vs. Member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Data: Divvy Bikeshare 2023  |  Tableau: public.tableau.com/app/profile/nick.khurshid</a:t>
            </a:r>
            <a:endParaRPr lang="en-US" sz="800" dirty="0"/>
          </a:p>
        </p:txBody>
      </p:sp>
      <p:pic>
        <p:nvPicPr>
          <p:cNvPr id="21" name="slide3" descr="monthly_usage">
            <a:extLst>
              <a:ext uri="{FF2B5EF4-FFF2-40B4-BE49-F238E27FC236}">
                <a16:creationId xmlns:a16="http://schemas.microsoft.com/office/drawing/2014/main" id="{EB4D790B-1FBE-4726-903B-2E91A9090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24712"/>
            <a:ext cx="4114799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</a:rPr>
              <a:t>INSIGHT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BBBBB"/>
                </a:solidFill>
              </a:rPr>
              <a:t>STATION PATTERNS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They Start &amp; End?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54864" cy="12801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603504" y="1371600"/>
            <a:ext cx="146304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03504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Casual Riders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Leisure-oriented stations near parks, lakefront, and tourist attractions.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24912"/>
            <a:ext cx="3840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54864" cy="128016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03504" y="2834640"/>
            <a:ext cx="1463040" cy="25603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03504" y="2834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Annual Members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8368" y="320040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Routine-oriented stations near offices, transit hubs, and residential areas.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70432"/>
            <a:ext cx="4114800" cy="3566160"/>
          </a:xfrm>
          <a:prstGeom prst="rect">
            <a:avLst/>
          </a:prstGeom>
          <a:solidFill>
            <a:srgbClr val="F0F4F8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645152" y="1243584"/>
            <a:ext cx="3968496" cy="3419856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0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0" y="1170432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VISUALIZATION ]
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or bar chart: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start stations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</a:rPr>
              <a:t>Data: Divvy Bikeshare 2023  |  Tableau: public.tableau.com/app/profile/nick.khurshid</a:t>
            </a:r>
            <a:endParaRPr lang="en-US" sz="800" dirty="0"/>
          </a:p>
        </p:txBody>
      </p:sp>
      <p:pic>
        <p:nvPicPr>
          <p:cNvPr id="20" name="slide4" descr="top_start_station">
            <a:extLst>
              <a:ext uri="{FF2B5EF4-FFF2-40B4-BE49-F238E27FC236}">
                <a16:creationId xmlns:a16="http://schemas.microsoft.com/office/drawing/2014/main" id="{18FB2E6C-EEE5-4843-A4A4-C144DFFF6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838200"/>
            <a:ext cx="4114799" cy="2081785"/>
          </a:xfrm>
          <a:prstGeom prst="rect">
            <a:avLst/>
          </a:prstGeom>
        </p:spPr>
      </p:pic>
      <p:pic>
        <p:nvPicPr>
          <p:cNvPr id="21" name="slide5" descr="top_end_station_">
            <a:extLst>
              <a:ext uri="{FF2B5EF4-FFF2-40B4-BE49-F238E27FC236}">
                <a16:creationId xmlns:a16="http://schemas.microsoft.com/office/drawing/2014/main" id="{986E87D0-C628-478E-9FE3-65D54B2E59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2919985"/>
            <a:ext cx="4114801" cy="18166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to Drive Conversions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9436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70432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Membership Plan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7465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peak on weekends. A Saturday–Sunday or leisure-focused membership tier directly matches their usage pattern and lowers the conversion barrier.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59436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70432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Conversion Campaign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28895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ridership surges May–August. Targeted promotions during peak season – when casual riders are most active – maximize campaign visibility and impact.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59436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70432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Pricing Communication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40325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casual riders the cost savings of membership vs. pay-per-ride using their actual usage data. Personalized savings estimates create a compelling conversion argument.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80A0"/>
                </a:solidFill>
              </a:rPr>
              <a:t>Cyclistic Bike-Share Analysis · Nick Khurshid · April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</Words>
  <Application>Microsoft Office PowerPoint</Application>
  <PresentationFormat>Bildschirmpräsentation (16:9)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Bike-Share Analysis – Nick Khurshid</dc:title>
  <dc:subject>PptxGenJS Presentation</dc:subject>
  <dc:creator>PptxGenJS</dc:creator>
  <cp:lastModifiedBy>Robert Tomaschewski</cp:lastModifiedBy>
  <cp:revision>3</cp:revision>
  <dcterms:created xsi:type="dcterms:W3CDTF">2026-05-05T14:35:42Z</dcterms:created>
  <dcterms:modified xsi:type="dcterms:W3CDTF">2026-05-06T15:25:31Z</dcterms:modified>
</cp:coreProperties>
</file>